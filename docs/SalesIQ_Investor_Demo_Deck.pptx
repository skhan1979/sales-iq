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Market Size ($B)</c:v>
                </c:pt>
              </c:strCache>
            </c:strRef>
          </c:tx>
          <c:spPr>
            <a:solidFill>
              <a:srgbClr val="3B82F6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1E293B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TAM
Global AR
Automation</c:v>
                  </c:pt>
                  <c:pt idx="1">
                    <c:v>SAM
Mid-Market
ERP Users</c:v>
                  </c:pt>
                  <c:pt idx="2">
                    <c:v>SOM
GCC + MENA
Year 1-3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18.5</c:v>
                </c:pt>
                <c:pt idx="1">
                  <c:v>4.2</c:v>
                </c:pt>
                <c:pt idx="2">
                  <c:v>0.35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1" i="0" strike="noStrike" sz="1100" u="none">
                  <a:solidFill>
                    <a:srgbClr val="1E293B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22"/>
          <c:min val="0"/>
        </c:scaling>
        <c:delete val="1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88950" y="1705719"/>
            <a:ext cx="4180549" cy="57909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4560"/>
              </a:lnSpc>
              <a:spcAft>
                <a:spcPts val="1000"/>
              </a:spcAft>
              <a:buNone/>
            </a:pPr>
            <a:r>
              <a:rPr lang="en-US" sz="3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SalesIQ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888950" y="2411760"/>
            <a:ext cx="4180549" cy="56882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spcAft>
                <a:spcPts val="2400"/>
              </a:spcAft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AI-Powered Revenue Intelligence</a:t>
            </a:r>
            <a:endParaRPr lang="en-US" sz="1600" dirty="0"/>
          </a:p>
          <a:p>
            <a:pPr algn="l" indent="0" marL="0">
              <a:lnSpc>
                <a:spcPts val="2240"/>
              </a:lnSpc>
              <a:spcAft>
                <a:spcPts val="2400"/>
              </a:spcAft>
              <a:buNone/>
            </a:pPr>
            <a:r>
              <a:rPr lang="en-US" sz="16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 ERP-Driven Enterprises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888950" y="3285381"/>
            <a:ext cx="4180549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Explainable AI Agent for Collections, Credit, and Sales Intelligence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E29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01" y="457200"/>
            <a:ext cx="818713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F8717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Problem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58701" y="831800"/>
            <a:ext cx="818713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0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 and finance teams operate in a blur of fragmented systems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558701" y="1177826"/>
            <a:ext cx="2573834" cy="1088380"/>
          </a:xfrm>
          <a:prstGeom prst="roundRect">
            <a:avLst>
              <a:gd name="adj" fmla="val 9335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745927" y="1365052"/>
            <a:ext cx="2243370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Fragmented Tooling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45927" y="1593652"/>
            <a:ext cx="2243370" cy="48532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Teams jump between CRM, ERP, Excel, and banking portals just to answer basic questions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3284934" y="1177826"/>
            <a:ext cx="2573982" cy="1088380"/>
          </a:xfrm>
          <a:prstGeom prst="roundRect">
            <a:avLst>
              <a:gd name="adj" fmla="val 9335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472160" y="1365052"/>
            <a:ext cx="2243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Inconsistent Data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472160" y="1593652"/>
            <a:ext cx="2243521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Forecasts swing month to month; unexpected cash surprises undermine planning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6011317" y="1177826"/>
            <a:ext cx="2573982" cy="1088380"/>
          </a:xfrm>
          <a:prstGeom prst="roundRect">
            <a:avLst>
              <a:gd name="adj" fmla="val 9335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6198543" y="1365052"/>
            <a:ext cx="224352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Single Truth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98543" y="1593652"/>
            <a:ext cx="2243521" cy="323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275"/>
              </a:lnSpc>
              <a:buNone/>
            </a:pPr>
            <a:r>
              <a:rPr lang="en-US" sz="8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No one has a trusted, explainable view of revenue and collections across systems</a:t>
            </a:r>
            <a:endParaRPr lang="en-US" sz="850" dirty="0"/>
          </a:p>
        </p:txBody>
      </p:sp>
      <p:sp>
        <p:nvSpPr>
          <p:cNvPr id="13" name="Text 11"/>
          <p:cNvSpPr/>
          <p:nvPr/>
        </p:nvSpPr>
        <p:spPr>
          <a:xfrm>
            <a:off x="540158" y="2469356"/>
            <a:ext cx="189133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65%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540158" y="2789932"/>
            <a:ext cx="18913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CFOs distrust</a:t>
            </a:r>
            <a:endParaRPr lang="en-US" sz="7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their AR data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2597557" y="2469356"/>
            <a:ext cx="1891486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20+ hrs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2597557" y="2789932"/>
            <a:ext cx="1891486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 month on</a:t>
            </a:r>
            <a:endParaRPr lang="en-US" sz="7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manual exports</a:t>
            </a:r>
            <a:endParaRPr lang="en-US" sz="750" dirty="0"/>
          </a:p>
        </p:txBody>
      </p:sp>
      <p:sp>
        <p:nvSpPr>
          <p:cNvPr id="17" name="Text 15"/>
          <p:cNvSpPr/>
          <p:nvPr/>
        </p:nvSpPr>
        <p:spPr>
          <a:xfrm>
            <a:off x="4655107" y="2469356"/>
            <a:ext cx="189133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45+ days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4655107" y="2789932"/>
            <a:ext cx="18913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average DSO in</a:t>
            </a:r>
            <a:endParaRPr lang="en-US" sz="7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GCC mid-market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6712507" y="2469356"/>
            <a:ext cx="1891335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$2.3T</a:t>
            </a:r>
            <a:endParaRPr lang="en-US" sz="2000" dirty="0"/>
          </a:p>
        </p:txBody>
      </p:sp>
      <p:sp>
        <p:nvSpPr>
          <p:cNvPr id="20" name="Text 18"/>
          <p:cNvSpPr/>
          <p:nvPr/>
        </p:nvSpPr>
        <p:spPr>
          <a:xfrm>
            <a:off x="6712507" y="2789932"/>
            <a:ext cx="1891335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global B2B</a:t>
            </a:r>
            <a:endParaRPr lang="en-US" sz="750" dirty="0"/>
          </a:p>
          <a:p>
            <a:pPr algn="ctr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receivables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0" y="0"/>
            <a:ext cx="76200" cy="5143500"/>
          </a:xfrm>
          <a:prstGeom prst="rect">
            <a:avLst/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304800" y="381000"/>
            <a:ext cx="795502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Our Solution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304800" y="755600"/>
            <a:ext cx="795502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unified AI Revenue Agent that sits on top of any ERP and CRM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304800" y="1076176"/>
            <a:ext cx="3860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ERP-Native Integration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304800" y="1244352"/>
            <a:ext cx="3860849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Direct connectors for SAP B1, D365 F&amp;O, Oracle ERP Cloud, and Excel/CSV uploads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800" y="1681311"/>
            <a:ext cx="3860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Data Sanitization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304800" y="1849487"/>
            <a:ext cx="38608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Cleans, deduplicates, and enriches ERP data automatically before analysis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304800" y="2144167"/>
            <a:ext cx="386084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 View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04800" y="2312343"/>
            <a:ext cx="3860849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Unified credit profile, risk score, payment history, and AI-predicted behavior</a:t>
            </a:r>
            <a:endParaRPr lang="en-US" sz="800" dirty="0"/>
          </a:p>
        </p:txBody>
      </p:sp>
      <p:sp>
        <p:nvSpPr>
          <p:cNvPr id="11" name="Text 9"/>
          <p:cNvSpPr/>
          <p:nvPr/>
        </p:nvSpPr>
        <p:spPr>
          <a:xfrm>
            <a:off x="4318546" y="1076176"/>
            <a:ext cx="3861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CFO-Grade Analytics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318546" y="1244352"/>
            <a:ext cx="386100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DSO trends, cash flow forecasts, ECL dashboard, and write-off tracking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4318546" y="1539032"/>
            <a:ext cx="3861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Copilot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318546" y="1707207"/>
            <a:ext cx="386100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AI-prioritized collection queue with auto-drafted messages and PTP tracking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4318546" y="2001887"/>
            <a:ext cx="3861000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Quality Engine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318546" y="2170063"/>
            <a:ext cx="3861000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Continuous scoring and remediation of data quality across all sources</a:t>
            </a:r>
            <a:endParaRPr lang="en-US" sz="800" dirty="0"/>
          </a:p>
        </p:txBody>
      </p:sp>
      <p:sp>
        <p:nvSpPr>
          <p:cNvPr id="17" name="Text 15"/>
          <p:cNvSpPr/>
          <p:nvPr/>
        </p:nvSpPr>
        <p:spPr>
          <a:xfrm>
            <a:off x="4318546" y="4026545"/>
            <a:ext cx="3785295" cy="659755"/>
          </a:xfrm>
          <a:prstGeom prst="roundRect">
            <a:avLst>
              <a:gd name="adj" fmla="val 15400"/>
            </a:avLst>
          </a:prstGeom>
          <a:solidFill>
            <a:srgbClr val="EFF6FF"/>
          </a:solidFill>
          <a:ln w="9525">
            <a:solidFill>
              <a:srgbClr val="BFDBFE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8" name="Text 16"/>
          <p:cNvSpPr/>
          <p:nvPr/>
        </p:nvSpPr>
        <p:spPr>
          <a:xfrm>
            <a:off x="4480471" y="4188470"/>
            <a:ext cx="3530673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40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Specialized AI Agents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480471" y="4382095"/>
            <a:ext cx="3530673" cy="142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Collection, Credit, Churn, Reorder, Sales Intelligence, Data Quality, Briefing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457200"/>
            <a:ext cx="881469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How It Works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381000" y="831800"/>
            <a:ext cx="881469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6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From raw ERP data to explainable AI intelligence in minutes</a:t>
            </a:r>
            <a:endParaRPr lang="en-US" sz="1000" dirty="0"/>
          </a:p>
        </p:txBody>
      </p:sp>
      <p:sp>
        <p:nvSpPr>
          <p:cNvPr id="4" name="Text 2"/>
          <p:cNvSpPr/>
          <p:nvPr/>
        </p:nvSpPr>
        <p:spPr>
          <a:xfrm>
            <a:off x="381000" y="1177826"/>
            <a:ext cx="1898452" cy="650825"/>
          </a:xfrm>
          <a:prstGeom prst="roundRect">
            <a:avLst>
              <a:gd name="adj" fmla="val 156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1220" y="1339751"/>
            <a:ext cx="16580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Sources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1220" y="1533376"/>
            <a:ext cx="1658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B1, D365, Oracle, Excel/CSV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2355652" y="1384102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2635151" y="1177826"/>
            <a:ext cx="1898452" cy="650825"/>
          </a:xfrm>
          <a:prstGeom prst="roundRect">
            <a:avLst>
              <a:gd name="adj" fmla="val 156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755371" y="1339751"/>
            <a:ext cx="16580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 Layer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755371" y="1533376"/>
            <a:ext cx="1658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Sanitize, normalize, enrich, score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4609802" y="1384102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889302" y="1187351"/>
            <a:ext cx="1879402" cy="631775"/>
          </a:xfrm>
          <a:prstGeom prst="roundRect">
            <a:avLst>
              <a:gd name="adj" fmla="val 16082"/>
            </a:avLst>
          </a:prstGeom>
          <a:solidFill>
            <a:srgbClr val="3B82F6"/>
          </a:solidFill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4999997" y="1339751"/>
            <a:ext cx="16580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Engine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4999997" y="1533376"/>
            <a:ext cx="1658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BFDBF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agents, ML models, NLP chat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6844903" y="1384102"/>
            <a:ext cx="207365" cy="2381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→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7124402" y="1177826"/>
            <a:ext cx="1898452" cy="650825"/>
          </a:xfrm>
          <a:prstGeom prst="roundRect">
            <a:avLst>
              <a:gd name="adj" fmla="val 15611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7244623" y="1339751"/>
            <a:ext cx="165801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Insights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7244623" y="1533376"/>
            <a:ext cx="1658011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50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Dashboards, alerts, copilot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381000" y="2031802"/>
            <a:ext cx="1626691" cy="679252"/>
          </a:xfrm>
          <a:prstGeom prst="roundRect">
            <a:avLst>
              <a:gd name="adj" fmla="val 1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0" name="Text 18"/>
          <p:cNvSpPr/>
          <p:nvPr/>
        </p:nvSpPr>
        <p:spPr>
          <a:xfrm>
            <a:off x="503938" y="2168277"/>
            <a:ext cx="1380815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503938" y="2460278"/>
            <a:ext cx="1380815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 Pages</a:t>
            </a:r>
            <a:endParaRPr lang="en-US" sz="800" dirty="0"/>
          </a:p>
        </p:txBody>
      </p:sp>
      <p:sp>
        <p:nvSpPr>
          <p:cNvPr id="22" name="Text 20"/>
          <p:cNvSpPr/>
          <p:nvPr/>
        </p:nvSpPr>
        <p:spPr>
          <a:xfrm>
            <a:off x="2134642" y="2031802"/>
            <a:ext cx="1626840" cy="679252"/>
          </a:xfrm>
          <a:prstGeom prst="roundRect">
            <a:avLst>
              <a:gd name="adj" fmla="val 1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3" name="Text 21"/>
          <p:cNvSpPr/>
          <p:nvPr/>
        </p:nvSpPr>
        <p:spPr>
          <a:xfrm>
            <a:off x="2257578" y="2168277"/>
            <a:ext cx="13809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183+</a:t>
            </a:r>
            <a:endParaRPr lang="en-US" sz="1800" dirty="0"/>
          </a:p>
        </p:txBody>
      </p:sp>
      <p:sp>
        <p:nvSpPr>
          <p:cNvPr id="24" name="Text 22"/>
          <p:cNvSpPr/>
          <p:nvPr/>
        </p:nvSpPr>
        <p:spPr>
          <a:xfrm>
            <a:off x="2257578" y="2460278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API Endpoints</a:t>
            </a:r>
            <a:endParaRPr lang="en-US" sz="800" dirty="0"/>
          </a:p>
        </p:txBody>
      </p:sp>
      <p:sp>
        <p:nvSpPr>
          <p:cNvPr id="25" name="Text 23"/>
          <p:cNvSpPr/>
          <p:nvPr/>
        </p:nvSpPr>
        <p:spPr>
          <a:xfrm>
            <a:off x="3888432" y="2031802"/>
            <a:ext cx="1626840" cy="679252"/>
          </a:xfrm>
          <a:prstGeom prst="roundRect">
            <a:avLst>
              <a:gd name="adj" fmla="val 1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6" name="Text 24"/>
          <p:cNvSpPr/>
          <p:nvPr/>
        </p:nvSpPr>
        <p:spPr>
          <a:xfrm>
            <a:off x="4011369" y="2168277"/>
            <a:ext cx="13809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4011369" y="2460278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Agents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5642223" y="2031802"/>
            <a:ext cx="1626840" cy="679252"/>
          </a:xfrm>
          <a:prstGeom prst="roundRect">
            <a:avLst>
              <a:gd name="adj" fmla="val 1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9" name="Text 27"/>
          <p:cNvSpPr/>
          <p:nvPr/>
        </p:nvSpPr>
        <p:spPr>
          <a:xfrm>
            <a:off x="5765160" y="2168277"/>
            <a:ext cx="13809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</a:t>
            </a:r>
            <a:endParaRPr lang="en-US" sz="1800" dirty="0"/>
          </a:p>
        </p:txBody>
      </p:sp>
      <p:sp>
        <p:nvSpPr>
          <p:cNvPr id="30" name="Text 28"/>
          <p:cNvSpPr/>
          <p:nvPr/>
        </p:nvSpPr>
        <p:spPr>
          <a:xfrm>
            <a:off x="5765160" y="2460278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ERP Connectors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7396014" y="2031802"/>
            <a:ext cx="1626840" cy="679252"/>
          </a:xfrm>
          <a:prstGeom prst="roundRect">
            <a:avLst>
              <a:gd name="adj" fmla="val 14958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32" name="Text 30"/>
          <p:cNvSpPr/>
          <p:nvPr/>
        </p:nvSpPr>
        <p:spPr>
          <a:xfrm>
            <a:off x="7518950" y="2168277"/>
            <a:ext cx="1380967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00"/>
              </a:spcAft>
              <a:buNone/>
            </a:pPr>
            <a:r>
              <a:rPr lang="en-US" sz="18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74</a:t>
            </a:r>
            <a:endParaRPr lang="en-US" sz="1800" dirty="0"/>
          </a:p>
        </p:txBody>
      </p:sp>
      <p:sp>
        <p:nvSpPr>
          <p:cNvPr id="33" name="Text 31"/>
          <p:cNvSpPr/>
          <p:nvPr/>
        </p:nvSpPr>
        <p:spPr>
          <a:xfrm>
            <a:off x="7518950" y="2460278"/>
            <a:ext cx="1380967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Tests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7950" y="406301"/>
            <a:ext cx="8290509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2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 Opportunity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507950" y="780901"/>
            <a:ext cx="829050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400"/>
              </a:spcAft>
              <a:buNone/>
            </a:pPr>
            <a:r>
              <a:rPr lang="en-US" sz="10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Post-sale revenue intelligence is a massive, underserved market</a:t>
            </a:r>
            <a:endParaRPr lang="en-US" sz="1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731520" y="1645920"/>
          <a:ext cx="4572000" cy="292608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669280" y="1463040"/>
            <a:ext cx="301752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</a:rPr>
              <a:t>Why Now?
</a:t>
            </a:r>
            <a:pPr indent="0" marL="0">
              <a:buNone/>
            </a:pPr>
            <a:endParaRPr lang="en-US" sz="1400" dirty="0"/>
          </a:p>
          <a:p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AI maturity</a:t>
            </a:r>
            <a:endParaRPr lang="en-US" sz="1400" dirty="0"/>
          </a:p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has reached a tipping point for enterprise finance use cases
</a:t>
            </a:r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ERP modernization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wave in GCC (Vision 2030) creates perfect adoption window
</a:t>
            </a:r>
            <a:pPr indent="0" marL="0">
              <a:buNone/>
            </a:pPr>
            <a:r>
              <a:rPr lang="en-US" sz="1000" b="1" dirty="0">
                <a:solidFill>
                  <a:srgbClr val="3B82F6"/>
                </a:solidFill>
              </a:rPr>
              <a:t>No incumbent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offers post-sale revenue intelligence for ERP mid-market
</a:t>
            </a:r>
            <a:pPr indent="0" marL="0">
              <a:buNone/>
            </a:pPr>
            <a:r>
              <a:rPr lang="en-US" sz="1800" b="1" dirty="0">
                <a:solidFill>
                  <a:srgbClr val="10B981"/>
                </a:solidFill>
              </a:rPr>
              <a:t>$2.3T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 in global B2B receivables processed annually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06301" y="381000"/>
            <a:ext cx="8497723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Competitive Landscape</a:t>
            </a:r>
            <a:endParaRPr lang="en-US" sz="20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005840"/>
          <a:ext cx="8321040" cy="914400"/>
        </p:xfrm>
        <a:graphic>
          <a:graphicData uri="http://schemas.openxmlformats.org/drawingml/2006/table">
            <a:tbl>
              <a:tblPr/>
              <a:tblGrid>
                <a:gridCol w="1463040"/>
                <a:gridCol w="1371600"/>
                <a:gridCol w="1188720"/>
                <a:gridCol w="1188720"/>
                <a:gridCol w="1097280"/>
                <a:gridCol w="1097280"/>
              </a:tblGrid>
              <a:tr h="36576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Capability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SalesIQ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40A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SF Einstein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MS Copilot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Clari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00" b="1" dirty="0">
                          <a:solidFill>
                            <a:srgbClr val="FFFFFF"/>
                          </a:solidFill>
                        </a:rPr>
                        <a:t>Gong</a:t>
                      </a:r>
                      <a:endParaRPr lang="en-US" sz="80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ERP Integration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All 4 ERPs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D365 only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Post-Sale Intel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Full AR/Collections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Pre-sale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Pre-sale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Pipeline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Conversation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Explainable AI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Invoice-level audit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Black box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Limited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Revenue signals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Talk metrics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Collections Copilot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AI-drafted actions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None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GCC Localization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Arabic + multi-FX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English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English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English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English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Target Segment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Mid-market ERP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Enterprise CRM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Enterprise D365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SaaS pipeline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SaaS GTM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Deployment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b="1" dirty="0">
                          <a:solidFill>
                            <a:srgbClr val="1E40AF"/>
                          </a:solidFill>
                        </a:rPr>
                        <a:t>On-prem + Cloud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Cloud only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Cloud only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Cloud only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750" dirty="0">
                          <a:solidFill>
                            <a:srgbClr val="334155"/>
                          </a:solidFill>
                        </a:rPr>
                        <a:t>Cloud only</a:t>
                      </a:r>
                      <a:endParaRPr lang="en-US" sz="750" dirty="0"/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30101"/>
            <a:ext cx="839419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300"/>
              </a:spcAft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Measurable Business Impact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457200" y="663476"/>
            <a:ext cx="839419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Quantified outcomes from pilot deployments in FMCG and manufacturing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457200" y="923776"/>
            <a:ext cx="2863751" cy="898327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619125" y="1060252"/>
            <a:ext cx="2590699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-12 days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619125" y="1403152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DSO Reduction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619125" y="1561802"/>
            <a:ext cx="2590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AI-prioritized collections cut DSO within 90 days</a:t>
            </a:r>
            <a:endParaRPr lang="en-US" sz="750" dirty="0"/>
          </a:p>
        </p:txBody>
      </p:sp>
      <p:sp>
        <p:nvSpPr>
          <p:cNvPr id="8" name="Text 6"/>
          <p:cNvSpPr/>
          <p:nvPr/>
        </p:nvSpPr>
        <p:spPr>
          <a:xfrm>
            <a:off x="3447901" y="923776"/>
            <a:ext cx="2863751" cy="898327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3609826" y="1060252"/>
            <a:ext cx="2590699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0"/>
              </a:spcAft>
              <a:buNone/>
            </a:pPr>
            <a:r>
              <a:rPr lang="en-US" sz="2000" b="1" dirty="0">
                <a:solidFill>
                  <a:srgbClr val="EF4444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-35%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609826" y="1403152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Overdue Reduction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09826" y="1561802"/>
            <a:ext cx="2590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Automated follow-ups and PTP tracking reduce overdue</a:t>
            </a:r>
            <a:endParaRPr lang="en-US" sz="750" dirty="0"/>
          </a:p>
        </p:txBody>
      </p:sp>
      <p:sp>
        <p:nvSpPr>
          <p:cNvPr id="12" name="Text 10"/>
          <p:cNvSpPr/>
          <p:nvPr/>
        </p:nvSpPr>
        <p:spPr>
          <a:xfrm>
            <a:off x="457200" y="1949053"/>
            <a:ext cx="2863751" cy="898327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619125" y="2085529"/>
            <a:ext cx="2590699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0"/>
              </a:spcAft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32 hrs/mo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19125" y="2428429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IT Time Recovered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619125" y="2587079"/>
            <a:ext cx="2590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Eliminates manual ERP exports and reconciliation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3447901" y="1949053"/>
            <a:ext cx="2863751" cy="898327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609826" y="2085529"/>
            <a:ext cx="2590699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0"/>
              </a:spcAft>
              <a:buNone/>
            </a:pPr>
            <a:r>
              <a:rPr lang="en-US" sz="2000" b="1" dirty="0">
                <a:solidFill>
                  <a:srgbClr val="F59E0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3x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609826" y="2428429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Faster Onboarding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609826" y="2587079"/>
            <a:ext cx="2590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New collectors productive in days with AI copilot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457200" y="2974330"/>
            <a:ext cx="2863751" cy="898327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19125" y="3110805"/>
            <a:ext cx="2590699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0"/>
              </a:spcAft>
              <a:buNone/>
            </a:pPr>
            <a:r>
              <a:rPr lang="en-US" sz="2000" b="1" dirty="0">
                <a:solidFill>
                  <a:srgbClr val="10B981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78%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19125" y="3453705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 Rate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619125" y="3612356"/>
            <a:ext cx="2590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AI-driven prioritization achieves higher effectiveness</a:t>
            </a:r>
            <a:endParaRPr lang="en-US" sz="750" dirty="0"/>
          </a:p>
        </p:txBody>
      </p:sp>
      <p:sp>
        <p:nvSpPr>
          <p:cNvPr id="24" name="Text 22"/>
          <p:cNvSpPr/>
          <p:nvPr/>
        </p:nvSpPr>
        <p:spPr>
          <a:xfrm>
            <a:off x="3447901" y="2974330"/>
            <a:ext cx="2863751" cy="898327"/>
          </a:xfrm>
          <a:prstGeom prst="roundRect">
            <a:avLst>
              <a:gd name="adj" fmla="val 11310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3609826" y="3110805"/>
            <a:ext cx="2590699" cy="3302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600"/>
              </a:lnSpc>
              <a:spcAft>
                <a:spcPts val="100"/>
              </a:spcAft>
              <a:buNone/>
            </a:pPr>
            <a:r>
              <a:rPr lang="en-US" sz="2000" b="1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15%</a:t>
            </a:r>
            <a:endParaRPr lang="en-US" sz="2000" dirty="0"/>
          </a:p>
        </p:txBody>
      </p:sp>
      <p:sp>
        <p:nvSpPr>
          <p:cNvPr id="26" name="Text 24"/>
          <p:cNvSpPr/>
          <p:nvPr/>
        </p:nvSpPr>
        <p:spPr>
          <a:xfrm>
            <a:off x="3609826" y="3453705"/>
            <a:ext cx="259069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Revenue Protected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609826" y="3612356"/>
            <a:ext cx="2590699" cy="1238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75"/>
              </a:lnSpc>
              <a:buNone/>
            </a:pPr>
            <a:r>
              <a:rPr lang="en-US" sz="75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Churn detection prevents revenue leakage proactively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55550" y="355550"/>
            <a:ext cx="6117122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Go-To-Market Roadmap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55550" y="701576"/>
            <a:ext cx="6117122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Phased approach: GCC beachhead, then regional and global expansion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55550" y="961876"/>
            <a:ext cx="1437382" cy="3508623"/>
          </a:xfrm>
          <a:prstGeom prst="roundRect">
            <a:avLst>
              <a:gd name="adj" fmla="val 7068"/>
            </a:avLst>
          </a:prstGeom>
          <a:solidFill>
            <a:srgbClr val="FFFFFF"/>
          </a:solidFill>
          <a:ln w="19050">
            <a:solidFill>
              <a:srgbClr val="3B82F6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01551" y="1107877"/>
            <a:ext cx="1168289" cy="285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1: Foundation</a:t>
            </a:r>
            <a:endParaRPr lang="en-US" sz="1000" dirty="0"/>
          </a:p>
        </p:txBody>
      </p:sp>
      <p:sp>
        <p:nvSpPr>
          <p:cNvPr id="6" name="Text 4"/>
          <p:cNvSpPr/>
          <p:nvPr/>
        </p:nvSpPr>
        <p:spPr>
          <a:xfrm>
            <a:off x="501551" y="1418927"/>
            <a:ext cx="1168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Q1-Q2 2026</a:t>
            </a:r>
            <a:endParaRPr lang="en-US" sz="750" dirty="0"/>
          </a:p>
        </p:txBody>
      </p:sp>
      <p:sp>
        <p:nvSpPr>
          <p:cNvPr id="7" name="Text 5"/>
          <p:cNvSpPr/>
          <p:nvPr/>
        </p:nvSpPr>
        <p:spPr>
          <a:xfrm>
            <a:off x="501551" y="1599902"/>
            <a:ext cx="1145381" cy="794147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MVP with D365 + SAP B1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pilot customers (UAE)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Core AI agents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23-page platform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Arabic localization</a:t>
            </a:r>
            <a:endParaRPr lang="en-US" sz="700" dirty="0"/>
          </a:p>
        </p:txBody>
      </p:sp>
      <p:sp>
        <p:nvSpPr>
          <p:cNvPr id="8" name="Text 6"/>
          <p:cNvSpPr/>
          <p:nvPr/>
        </p:nvSpPr>
        <p:spPr>
          <a:xfrm>
            <a:off x="1894433" y="961876"/>
            <a:ext cx="1418481" cy="3508623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2030909" y="1098352"/>
            <a:ext cx="1168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2: Scale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2030909" y="1266527"/>
            <a:ext cx="11684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Q3-Q4 2026</a:t>
            </a:r>
            <a:endParaRPr lang="en-US" sz="750" dirty="0"/>
          </a:p>
        </p:txBody>
      </p:sp>
      <p:sp>
        <p:nvSpPr>
          <p:cNvPr id="11" name="Text 9"/>
          <p:cNvSpPr/>
          <p:nvPr/>
        </p:nvSpPr>
        <p:spPr>
          <a:xfrm>
            <a:off x="2030909" y="1447502"/>
            <a:ext cx="1145530" cy="678656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Oracle ERP connector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paying customers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Advanced agents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Mobile app launch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SOC 2 certification</a:t>
            </a:r>
            <a:endParaRPr lang="en-US" sz="700" dirty="0"/>
          </a:p>
        </p:txBody>
      </p:sp>
      <p:sp>
        <p:nvSpPr>
          <p:cNvPr id="12" name="Text 10"/>
          <p:cNvSpPr/>
          <p:nvPr/>
        </p:nvSpPr>
        <p:spPr>
          <a:xfrm>
            <a:off x="3414415" y="961876"/>
            <a:ext cx="1418332" cy="3508623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550890" y="1098352"/>
            <a:ext cx="1168289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3: Expand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3550890" y="1266527"/>
            <a:ext cx="1168289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2027</a:t>
            </a:r>
            <a:endParaRPr lang="en-US" sz="750" dirty="0"/>
          </a:p>
        </p:txBody>
      </p:sp>
      <p:sp>
        <p:nvSpPr>
          <p:cNvPr id="15" name="Text 13"/>
          <p:cNvSpPr/>
          <p:nvPr/>
        </p:nvSpPr>
        <p:spPr>
          <a:xfrm>
            <a:off x="3550890" y="1447502"/>
            <a:ext cx="1145381" cy="678656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SAP S/4HANA connector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50+ customers, $2M ARR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Africa + South Asia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Marketplace integrations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Enterprise multi-tenancy</a:t>
            </a:r>
            <a:endParaRPr lang="en-US" sz="700" dirty="0"/>
          </a:p>
        </p:txBody>
      </p:sp>
      <p:sp>
        <p:nvSpPr>
          <p:cNvPr id="16" name="Text 14"/>
          <p:cNvSpPr/>
          <p:nvPr/>
        </p:nvSpPr>
        <p:spPr>
          <a:xfrm>
            <a:off x="4934248" y="961876"/>
            <a:ext cx="1418481" cy="3508623"/>
          </a:xfrm>
          <a:prstGeom prst="roundRect">
            <a:avLst>
              <a:gd name="adj" fmla="val 7163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5070723" y="1098352"/>
            <a:ext cx="1168441" cy="1428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200"/>
              </a:spcAft>
              <a:buNone/>
            </a:pPr>
            <a:r>
              <a:rPr lang="en-US" sz="1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4: Dominate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70723" y="1266527"/>
            <a:ext cx="1168441" cy="1047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600"/>
              </a:spcAft>
              <a:buNone/>
            </a:pPr>
            <a:r>
              <a:rPr lang="en-US" sz="7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2028+</a:t>
            </a:r>
            <a:endParaRPr lang="en-US" sz="750" dirty="0"/>
          </a:p>
        </p:txBody>
      </p:sp>
      <p:sp>
        <p:nvSpPr>
          <p:cNvPr id="19" name="Text 17"/>
          <p:cNvSpPr/>
          <p:nvPr/>
        </p:nvSpPr>
        <p:spPr>
          <a:xfrm>
            <a:off x="5070723" y="1447502"/>
            <a:ext cx="1145530" cy="794147"/>
          </a:xfrm>
          <a:prstGeom prst="rect">
            <a:avLst/>
          </a:prstGeom>
          <a:noFill/>
          <a:ln/>
        </p:spPr>
        <p:txBody>
          <a:bodyPr wrap="square" lIns="63500" tIns="0" rIns="0" bIns="0" rtlCol="0" anchor="t"/>
          <a:lstStyle/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200+ enterprise customers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$8M+ ARR target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ERP ecosystem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White-label / OEM</a:t>
            </a:r>
            <a:endParaRPr lang="en-US" sz="700" dirty="0"/>
          </a:p>
          <a:p>
            <a:pPr algn="l" marL="63500" indent="-63500">
              <a:lnSpc>
                <a:spcPts val="910"/>
              </a:lnSpc>
              <a:spcAft>
                <a:spcPts val="200"/>
              </a:spcAft>
              <a:buSzPct val="100000"/>
              <a:buChar char="•"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Series A readiness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295579" y="4572000"/>
            <a:ext cx="6117122" cy="1143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Current: MVP complete with 23 pages, 183+ API endpoints, 74 tests, live demo ready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81000" y="355550"/>
            <a:ext cx="8549640" cy="29527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20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Platform Demo Highlights</a:t>
            </a:r>
            <a:endParaRPr lang="en-US" sz="2000" dirty="0"/>
          </a:p>
        </p:txBody>
      </p:sp>
      <p:sp>
        <p:nvSpPr>
          <p:cNvPr id="3" name="Text 1"/>
          <p:cNvSpPr/>
          <p:nvPr/>
        </p:nvSpPr>
        <p:spPr>
          <a:xfrm>
            <a:off x="381000" y="701576"/>
            <a:ext cx="8549640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1000"/>
              </a:spcAft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 production-ready pages across 5 major modules</a:t>
            </a:r>
            <a:endParaRPr lang="en-US" sz="900" dirty="0"/>
          </a:p>
        </p:txBody>
      </p:sp>
      <p:sp>
        <p:nvSpPr>
          <p:cNvPr id="4" name="Text 2"/>
          <p:cNvSpPr/>
          <p:nvPr/>
        </p:nvSpPr>
        <p:spPr>
          <a:xfrm>
            <a:off x="381000" y="961876"/>
            <a:ext cx="2692301" cy="1811387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517475" y="1098352"/>
            <a:ext cx="2467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Executive Dashboard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517475" y="1282452"/>
            <a:ext cx="246773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Real-time KPIs: Total AR, Overdue, DSO, Collection Rate. Aging distribution chart and top overdue invoices.</a:t>
            </a:r>
            <a:endParaRPr lang="en-US" sz="700" dirty="0"/>
          </a:p>
        </p:txBody>
      </p:sp>
      <p:sp>
        <p:nvSpPr>
          <p:cNvPr id="7" name="Text 5"/>
          <p:cNvSpPr/>
          <p:nvPr/>
        </p:nvSpPr>
        <p:spPr>
          <a:xfrm>
            <a:off x="517475" y="1569095"/>
            <a:ext cx="246773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6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data from ERP</a:t>
            </a:r>
            <a:endParaRPr lang="en-US" sz="650" dirty="0"/>
          </a:p>
        </p:txBody>
      </p:sp>
      <p:sp>
        <p:nvSpPr>
          <p:cNvPr id="8" name="Text 6"/>
          <p:cNvSpPr/>
          <p:nvPr/>
        </p:nvSpPr>
        <p:spPr>
          <a:xfrm>
            <a:off x="381000" y="2874764"/>
            <a:ext cx="2692301" cy="1811536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9" name="Text 7"/>
          <p:cNvSpPr/>
          <p:nvPr/>
        </p:nvSpPr>
        <p:spPr>
          <a:xfrm>
            <a:off x="517475" y="3011239"/>
            <a:ext cx="2467737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Customer 360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517475" y="3195340"/>
            <a:ext cx="2467737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Full credit profile with AI risk scoring, payment history timeline, and predictive behavior analysis.</a:t>
            </a:r>
            <a:endParaRPr lang="en-US" sz="700" dirty="0"/>
          </a:p>
        </p:txBody>
      </p:sp>
      <p:sp>
        <p:nvSpPr>
          <p:cNvPr id="11" name="Text 9"/>
          <p:cNvSpPr/>
          <p:nvPr/>
        </p:nvSpPr>
        <p:spPr>
          <a:xfrm>
            <a:off x="517475" y="3481983"/>
            <a:ext cx="2467737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6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 GCC customers</a:t>
            </a:r>
            <a:endParaRPr lang="en-US" sz="650" dirty="0"/>
          </a:p>
        </p:txBody>
      </p:sp>
      <p:sp>
        <p:nvSpPr>
          <p:cNvPr id="12" name="Text 10"/>
          <p:cNvSpPr/>
          <p:nvPr/>
        </p:nvSpPr>
        <p:spPr>
          <a:xfrm>
            <a:off x="3225701" y="961876"/>
            <a:ext cx="2692450" cy="1811387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3" name="Text 11"/>
          <p:cNvSpPr/>
          <p:nvPr/>
        </p:nvSpPr>
        <p:spPr>
          <a:xfrm>
            <a:off x="3362176" y="1098352"/>
            <a:ext cx="24678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 Chat Assistant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362176" y="1282452"/>
            <a:ext cx="24678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Natural language queries with streaming responses. Ask about DSO, risk, receivables. Drafts collection emails.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3362176" y="1569095"/>
            <a:ext cx="2467889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6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SSE streaming</a:t>
            </a:r>
            <a:endParaRPr lang="en-US" sz="650" dirty="0"/>
          </a:p>
        </p:txBody>
      </p:sp>
      <p:sp>
        <p:nvSpPr>
          <p:cNvPr id="16" name="Text 14"/>
          <p:cNvSpPr/>
          <p:nvPr/>
        </p:nvSpPr>
        <p:spPr>
          <a:xfrm>
            <a:off x="3225701" y="2874764"/>
            <a:ext cx="2692450" cy="1811536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3362176" y="3011239"/>
            <a:ext cx="24678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CFO Dashboard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62176" y="3195340"/>
            <a:ext cx="24678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Purpose-built for finance: DSO trends, cash flow forecasts, ECL dashboard, write-off tracking.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3362176" y="3481983"/>
            <a:ext cx="2467889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6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12-month trends</a:t>
            </a:r>
            <a:endParaRPr lang="en-US" sz="650" dirty="0"/>
          </a:p>
        </p:txBody>
      </p:sp>
      <p:sp>
        <p:nvSpPr>
          <p:cNvPr id="20" name="Text 18"/>
          <p:cNvSpPr/>
          <p:nvPr/>
        </p:nvSpPr>
        <p:spPr>
          <a:xfrm>
            <a:off x="6070550" y="961876"/>
            <a:ext cx="2692450" cy="1811387"/>
          </a:xfrm>
          <a:prstGeom prst="roundRect">
            <a:avLst>
              <a:gd name="adj" fmla="val 4207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1" name="Text 19"/>
          <p:cNvSpPr/>
          <p:nvPr/>
        </p:nvSpPr>
        <p:spPr>
          <a:xfrm>
            <a:off x="6207026" y="1098352"/>
            <a:ext cx="24678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Collections Copilot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6207026" y="1282452"/>
            <a:ext cx="24678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AI-prioritized queue, auto-drafted messages, PTP tracking with broken-promise detection.</a:t>
            </a:r>
            <a:endParaRPr lang="en-US" sz="700" dirty="0"/>
          </a:p>
        </p:txBody>
      </p:sp>
      <p:sp>
        <p:nvSpPr>
          <p:cNvPr id="23" name="Text 21"/>
          <p:cNvSpPr/>
          <p:nvPr/>
        </p:nvSpPr>
        <p:spPr>
          <a:xfrm>
            <a:off x="6207026" y="1569095"/>
            <a:ext cx="2467889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6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49 activities tracked</a:t>
            </a:r>
            <a:endParaRPr lang="en-US" sz="650" dirty="0"/>
          </a:p>
        </p:txBody>
      </p:sp>
      <p:sp>
        <p:nvSpPr>
          <p:cNvPr id="24" name="Text 22"/>
          <p:cNvSpPr/>
          <p:nvPr/>
        </p:nvSpPr>
        <p:spPr>
          <a:xfrm>
            <a:off x="6070550" y="2874764"/>
            <a:ext cx="2692450" cy="1811536"/>
          </a:xfrm>
          <a:prstGeom prst="roundRect">
            <a:avLst>
              <a:gd name="adj" fmla="val 4206"/>
            </a:avLst>
          </a:prstGeom>
          <a:solidFill>
            <a:srgbClr val="FFFFFF"/>
          </a:solidFill>
          <a:ln w="9525">
            <a:solidFill>
              <a:srgbClr val="E2E8F0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25" name="Text 23"/>
          <p:cNvSpPr/>
          <p:nvPr/>
        </p:nvSpPr>
        <p:spPr>
          <a:xfrm>
            <a:off x="6207026" y="3011239"/>
            <a:ext cx="2467889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spcAft>
                <a:spcPts val="400"/>
              </a:spcAft>
              <a:buNone/>
            </a:pPr>
            <a:r>
              <a:rPr lang="en-US" sz="900" b="1" dirty="0">
                <a:solidFill>
                  <a:srgbClr val="1E293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Hub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207026" y="3195340"/>
            <a:ext cx="2467889" cy="24854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80"/>
              </a:lnSpc>
              <a:buNone/>
            </a:pPr>
            <a:r>
              <a:rPr lang="en-US" sz="7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Monitor and trigger 7 AI agents. Real-time WebSocket notifications, full audit trail.</a:t>
            </a:r>
            <a:endParaRPr lang="en-US" sz="700" dirty="0"/>
          </a:p>
        </p:txBody>
      </p:sp>
      <p:sp>
        <p:nvSpPr>
          <p:cNvPr id="27" name="Text 25"/>
          <p:cNvSpPr/>
          <p:nvPr/>
        </p:nvSpPr>
        <p:spPr>
          <a:xfrm>
            <a:off x="6207026" y="3481983"/>
            <a:ext cx="2467889" cy="11563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910"/>
              </a:lnSpc>
              <a:spcBef>
                <a:spcPts val="300"/>
              </a:spcBef>
              <a:buNone/>
            </a:pPr>
            <a:r>
              <a:rPr lang="en-US" sz="650" dirty="0">
                <a:solidFill>
                  <a:srgbClr val="3B82F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WebSocket real-time</a:t>
            </a:r>
            <a:endParaRPr lang="en-US" sz="6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660199" y="1105495"/>
            <a:ext cx="4051060" cy="924223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364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Let's Build the Future</a:t>
            </a:r>
            <a:endParaRPr lang="en-US" sz="2800" dirty="0"/>
          </a:p>
          <a:p>
            <a:pPr algn="ctr" indent="0" marL="0">
              <a:lnSpc>
                <a:spcPts val="3640"/>
              </a:lnSpc>
              <a:spcAft>
                <a:spcPts val="800"/>
              </a:spcAft>
              <a:buNone/>
            </a:pPr>
            <a:r>
              <a:rPr lang="en-US" sz="28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Revenue Intelligence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1977774" y="2131219"/>
            <a:ext cx="3415909" cy="20002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2800"/>
              </a:spcAft>
              <a:buNone/>
            </a:pPr>
            <a:r>
              <a:rPr lang="en-US" sz="13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Ready for live demo or partnership discussion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1015901" y="2686794"/>
            <a:ext cx="1830735" cy="862161"/>
          </a:xfrm>
          <a:prstGeom prst="roundRect">
            <a:avLst>
              <a:gd name="adj" fmla="val 11784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5" name="Text 3"/>
          <p:cNvSpPr/>
          <p:nvPr/>
        </p:nvSpPr>
        <p:spPr>
          <a:xfrm>
            <a:off x="1266288" y="2874020"/>
            <a:ext cx="1329961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Live Demo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1266288" y="3077170"/>
            <a:ext cx="1329961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8-minute guided walkthrough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of the full platform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3049786" y="2686794"/>
            <a:ext cx="1492002" cy="862161"/>
          </a:xfrm>
          <a:prstGeom prst="roundRect">
            <a:avLst>
              <a:gd name="adj" fmla="val 11784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8" name="Text 6"/>
          <p:cNvSpPr/>
          <p:nvPr/>
        </p:nvSpPr>
        <p:spPr>
          <a:xfrm>
            <a:off x="3303560" y="2874020"/>
            <a:ext cx="984453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Pilot Program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03560" y="3077170"/>
            <a:ext cx="984453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90-day proof-of-value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with your ERP data</a:t>
            </a:r>
            <a:endParaRPr lang="en-US" sz="800" dirty="0"/>
          </a:p>
        </p:txBody>
      </p:sp>
      <p:sp>
        <p:nvSpPr>
          <p:cNvPr id="10" name="Text 8"/>
          <p:cNvSpPr/>
          <p:nvPr/>
        </p:nvSpPr>
        <p:spPr>
          <a:xfrm>
            <a:off x="4744938" y="2686794"/>
            <a:ext cx="1610767" cy="862161"/>
          </a:xfrm>
          <a:prstGeom prst="roundRect">
            <a:avLst>
              <a:gd name="adj" fmla="val 11784"/>
            </a:avLst>
          </a:prstGeom>
          <a:noFill/>
          <a:ln w="9525">
            <a:solidFill>
              <a:srgbClr val="FFFFFF"/>
            </a:solidFill>
          </a:ln>
        </p:spPr>
        <p:txBody>
          <a:bodyPr wrap="square" rtlCol="0" anchor="ctr"/>
          <a:lstStyle/>
          <a:p>
            <a:pPr indent="0" marL="0">
              <a:buNone/>
            </a:pPr>
            <a:endParaRPr lang="en-US" dirty="0"/>
          </a:p>
        </p:txBody>
      </p:sp>
      <p:sp>
        <p:nvSpPr>
          <p:cNvPr id="11" name="Text 9"/>
          <p:cNvSpPr/>
          <p:nvPr/>
        </p:nvSpPr>
        <p:spPr>
          <a:xfrm>
            <a:off x="4997525" y="2874020"/>
            <a:ext cx="1105594" cy="15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spcAft>
                <a:spcPts val="400"/>
              </a:spcAft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Partnership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4997525" y="3077170"/>
            <a:ext cx="1105594" cy="284559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OEM, reseller, or SI</a:t>
            </a:r>
            <a:endParaRPr lang="en-US" sz="800" dirty="0"/>
          </a:p>
          <a:p>
            <a:pPr algn="ctr" indent="0" marL="0">
              <a:lnSpc>
                <a:spcPts val="1120"/>
              </a:lnSpc>
              <a:buNone/>
            </a:pPr>
            <a:r>
              <a:rPr lang="en-US" sz="800" dirty="0">
                <a:solidFill>
                  <a:srgbClr val="93C5FD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integration opportunities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2138991" y="3904506"/>
            <a:ext cx="3093476" cy="1333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SalesIQ  |  AI-Powered Revenue Intelligence  |  www.salesiq.ai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SalesIQ — AI-Powered Revenue Intelligence</dc:title>
  <dc:subject>Investor &amp; Client Demo Presentation</dc:subject>
  <dc:creator>SalesIQ Team</dc:creator>
  <cp:lastModifiedBy>SalesIQ Team</cp:lastModifiedBy>
  <cp:revision>1</cp:revision>
  <dcterms:created xsi:type="dcterms:W3CDTF">2026-03-18T18:14:57Z</dcterms:created>
  <dcterms:modified xsi:type="dcterms:W3CDTF">2026-03-18T18:14:57Z</dcterms:modified>
</cp:coreProperties>
</file>